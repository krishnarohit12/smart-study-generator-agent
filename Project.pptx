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64" r:id="rId8"/>
    <p:sldId id="277"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9425221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Krishna </a:t>
                      </a:r>
                      <a:r>
                        <a:rPr lang="en-US" sz="2000" dirty="0" err="1"/>
                        <a:t>Hiteshbhai</a:t>
                      </a:r>
                      <a:r>
                        <a:rPr lang="en-US" sz="2000" dirty="0"/>
                        <a:t> </a:t>
                      </a:r>
                    </a:p>
                    <a:p>
                      <a:pPr marL="0" marR="0" lvl="0" indent="0" algn="l" rtl="0">
                        <a:spcBef>
                          <a:spcPts val="0"/>
                        </a:spcBef>
                        <a:spcAft>
                          <a:spcPts val="0"/>
                        </a:spcAft>
                        <a:buNone/>
                      </a:pPr>
                      <a:r>
                        <a:rPr lang="en-US" sz="2000" dirty="0"/>
                        <a:t>Rohit</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krishnarohit127@gmail.com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9773451240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08212"/>
            <a:ext cx="9581177" cy="461665"/>
          </a:xfrm>
          <a:prstGeom prst="rect">
            <a:avLst/>
          </a:prstGeom>
          <a:noFill/>
        </p:spPr>
        <p:txBody>
          <a:bodyPr wrap="square" rtlCol="0">
            <a:spAutoFit/>
          </a:bodyPr>
          <a:lstStyle/>
          <a:p>
            <a:r>
              <a:rPr lang="en-US" sz="2400" b="1" dirty="0"/>
              <a:t>Project Tile – Smart Study Generator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17" name="Picture 16">
            <a:extLst>
              <a:ext uri="{FF2B5EF4-FFF2-40B4-BE49-F238E27FC236}">
                <a16:creationId xmlns:a16="http://schemas.microsoft.com/office/drawing/2014/main" id="{BF0A2C69-451E-4D79-8FE3-0EF7E1FEB69B}"/>
              </a:ext>
            </a:extLst>
          </p:cNvPr>
          <p:cNvPicPr>
            <a:picLocks noChangeAspect="1"/>
          </p:cNvPicPr>
          <p:nvPr/>
        </p:nvPicPr>
        <p:blipFill rotWithShape="1">
          <a:blip r:embed="rId3"/>
          <a:srcRect t="7655" r="-1440"/>
          <a:stretch/>
        </p:blipFill>
        <p:spPr>
          <a:xfrm>
            <a:off x="4094541" y="3629025"/>
            <a:ext cx="1091821" cy="11384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46185"/>
            <a:ext cx="10607040" cy="5514843"/>
          </a:xfrm>
          <a:prstGeom prst="rect">
            <a:avLst/>
          </a:prstGeom>
          <a:noFill/>
        </p:spPr>
        <p:txBody>
          <a:bodyPr wrap="square" rtlCol="0">
            <a:spAutoFit/>
          </a:bodyPr>
          <a:lstStyle/>
          <a:p>
            <a:pPr>
              <a:lnSpc>
                <a:spcPct val="115000"/>
              </a:lnSpc>
              <a:spcAft>
                <a:spcPts val="800"/>
              </a:spcAft>
            </a:pPr>
            <a:r>
              <a:rPr lang="en-IN" b="1" kern="100" dirty="0">
                <a:effectLst/>
                <a:latin typeface="Times New Roman" panose="02020603050405020304" pitchFamily="18" charset="0"/>
                <a:ea typeface="Aptos"/>
                <a:cs typeface="Arial" panose="020B0604020202020204" pitchFamily="34" charset="0"/>
              </a:rPr>
              <a:t>The Challenge</a:t>
            </a:r>
            <a:endParaRPr lang="en-IN" kern="100" dirty="0">
              <a:effectLst/>
              <a:latin typeface="Aptos"/>
              <a:ea typeface="Aptos"/>
              <a:cs typeface="Arial" panose="020B0604020202020204" pitchFamily="34" charset="0"/>
            </a:endParaRPr>
          </a:p>
          <a:p>
            <a:pPr algn="just">
              <a:lnSpc>
                <a:spcPct val="115000"/>
              </a:lnSpc>
              <a:spcAft>
                <a:spcPts val="800"/>
              </a:spcAft>
            </a:pPr>
            <a:r>
              <a:rPr lang="en-IN" kern="100" dirty="0">
                <a:effectLst/>
                <a:latin typeface="Times New Roman" panose="02020603050405020304" pitchFamily="18" charset="0"/>
                <a:ea typeface="Aptos"/>
                <a:cs typeface="Arial" panose="020B0604020202020204" pitchFamily="34" charset="0"/>
              </a:rPr>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endParaRPr lang="en-IN" kern="100" dirty="0">
              <a:effectLst/>
              <a:latin typeface="Aptos"/>
              <a:ea typeface="Aptos"/>
              <a:cs typeface="Arial" panose="020B0604020202020204" pitchFamily="34" charset="0"/>
            </a:endParaRPr>
          </a:p>
          <a:p>
            <a:pPr>
              <a:lnSpc>
                <a:spcPct val="115000"/>
              </a:lnSpc>
              <a:spcAft>
                <a:spcPts val="800"/>
              </a:spcAft>
            </a:pPr>
            <a:r>
              <a:rPr lang="en-IN" b="1" kern="100" dirty="0">
                <a:effectLst/>
                <a:latin typeface="Times New Roman" panose="02020603050405020304" pitchFamily="18" charset="0"/>
                <a:ea typeface="Aptos"/>
                <a:cs typeface="Arial" panose="020B0604020202020204" pitchFamily="34" charset="0"/>
              </a:rPr>
              <a:t>The Objective</a:t>
            </a:r>
            <a:endParaRPr lang="en-IN" kern="100" dirty="0">
              <a:effectLst/>
              <a:latin typeface="Aptos"/>
              <a:ea typeface="Aptos"/>
              <a:cs typeface="Arial" panose="020B0604020202020204" pitchFamily="34" charset="0"/>
            </a:endParaRPr>
          </a:p>
          <a:p>
            <a:pPr algn="just">
              <a:lnSpc>
                <a:spcPct val="115000"/>
              </a:lnSpc>
              <a:spcAft>
                <a:spcPts val="800"/>
              </a:spcAft>
            </a:pPr>
            <a:r>
              <a:rPr lang="en-IN" kern="100" dirty="0">
                <a:effectLst/>
                <a:latin typeface="Times New Roman" panose="02020603050405020304" pitchFamily="18" charset="0"/>
                <a:ea typeface="Aptos"/>
                <a:cs typeface="Arial" panose="020B0604020202020204" pitchFamily="34" charset="0"/>
              </a:rPr>
              <a:t>Build an agentic AI-powered Smart Study Generator that personalizes and streamlines learning for students. The solution should:</a:t>
            </a:r>
            <a:endParaRPr lang="en-IN"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Times New Roman" panose="02020603050405020304" pitchFamily="18" charset="0"/>
                <a:ea typeface="Aptos"/>
                <a:cs typeface="Arial" panose="020B0604020202020204" pitchFamily="34" charset="0"/>
              </a:rPr>
              <a:t>Fuse Learning Resources: </a:t>
            </a:r>
            <a:r>
              <a:rPr lang="en-IN" kern="100" dirty="0">
                <a:effectLst/>
                <a:latin typeface="Times New Roman" panose="02020603050405020304" pitchFamily="18" charset="0"/>
                <a:ea typeface="Aptos"/>
                <a:cs typeface="Arial" panose="020B0604020202020204" pitchFamily="34" charset="0"/>
              </a:rPr>
              <a:t>Aggregate content from class notes, textbooks, research articles, and online tutorials into structured, easy-to-digest study material.</a:t>
            </a:r>
            <a:endParaRPr lang="en-IN"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Times New Roman" panose="02020603050405020304" pitchFamily="18" charset="0"/>
                <a:ea typeface="Aptos"/>
                <a:cs typeface="Arial" panose="020B0604020202020204" pitchFamily="34" charset="0"/>
              </a:rPr>
              <a:t>Enable Multimodal Input:</a:t>
            </a:r>
            <a:r>
              <a:rPr lang="en-IN" kern="100" dirty="0">
                <a:effectLst/>
                <a:latin typeface="Times New Roman" panose="02020603050405020304" pitchFamily="18" charset="0"/>
                <a:ea typeface="Aptos"/>
                <a:cs typeface="Arial" panose="020B0604020202020204" pitchFamily="34" charset="0"/>
              </a:rPr>
              <a:t> Allow students to upload notes, voice queries, or images (e.g., textbook pages), and generate concise </a:t>
            </a:r>
            <a:r>
              <a:rPr lang="en-IN" kern="100" dirty="0" err="1">
                <a:effectLst/>
                <a:latin typeface="Times New Roman" panose="02020603050405020304" pitchFamily="18" charset="0"/>
                <a:ea typeface="Aptos"/>
                <a:cs typeface="Arial" panose="020B0604020202020204" pitchFamily="34" charset="0"/>
              </a:rPr>
              <a:t>summaaries</a:t>
            </a:r>
            <a:r>
              <a:rPr lang="en-IN" kern="100" dirty="0">
                <a:effectLst/>
                <a:latin typeface="Times New Roman" panose="02020603050405020304" pitchFamily="18" charset="0"/>
                <a:ea typeface="Aptos"/>
                <a:cs typeface="Arial" panose="020B0604020202020204" pitchFamily="34" charset="0"/>
              </a:rPr>
              <a:t>, flashcards, or concept maps.</a:t>
            </a:r>
            <a:endParaRPr lang="en-IN"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Times New Roman" panose="02020603050405020304" pitchFamily="18" charset="0"/>
                <a:ea typeface="Aptos"/>
                <a:cs typeface="Arial" panose="020B0604020202020204" pitchFamily="34" charset="0"/>
              </a:rPr>
              <a:t>Create a Predictive &amp; Agentic Layer:</a:t>
            </a:r>
            <a:r>
              <a:rPr lang="en-IN" kern="100" dirty="0">
                <a:effectLst/>
                <a:latin typeface="Times New Roman" panose="02020603050405020304" pitchFamily="18" charset="0"/>
                <a:ea typeface="Aptos"/>
                <a:cs typeface="Arial" panose="020B0604020202020204" pitchFamily="34" charset="0"/>
              </a:rPr>
              <a:t> Recommend personalized study plans, highlight important topics based on syllabus or past exams, and provide predictive alerts (e.g., “Focus on Topic X—frequently asked in exams”).</a:t>
            </a:r>
            <a:endParaRPr lang="en-IN"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Times New Roman" panose="02020603050405020304" pitchFamily="18" charset="0"/>
                <a:ea typeface="Aptos"/>
                <a:cs typeface="Arial" panose="020B0604020202020204" pitchFamily="34" charset="0"/>
              </a:rPr>
              <a:t>Visualize Study Progress:</a:t>
            </a:r>
            <a:r>
              <a:rPr lang="en-IN" kern="100" dirty="0">
                <a:effectLst/>
                <a:latin typeface="Times New Roman" panose="02020603050405020304" pitchFamily="18" charset="0"/>
                <a:ea typeface="Aptos"/>
                <a:cs typeface="Arial" panose="020B0604020202020204" pitchFamily="34" charset="0"/>
              </a:rPr>
              <a:t> Offer a real-time dashboard showing learning milestones, weak areas, practice quizzes, and performance forecasts.</a:t>
            </a:r>
            <a:endParaRPr lang="en-IN" kern="100" dirty="0">
              <a:effectLst/>
              <a:latin typeface="Aptos"/>
              <a:ea typeface="Aptos"/>
              <a:cs typeface="Arial" panose="020B0604020202020204" pitchFamily="34" charset="0"/>
            </a:endParaRPr>
          </a:p>
          <a:p>
            <a:pPr>
              <a:lnSpc>
                <a:spcPct val="115000"/>
              </a:lnSpc>
              <a:spcAft>
                <a:spcPts val="800"/>
              </a:spcAft>
            </a:pPr>
            <a:r>
              <a:rPr lang="en-IN" b="1" kern="100" dirty="0">
                <a:effectLst/>
                <a:latin typeface="Times New Roman" panose="02020603050405020304" pitchFamily="18" charset="0"/>
                <a:ea typeface="Aptos"/>
                <a:cs typeface="Arial" panose="020B0604020202020204" pitchFamily="34" charset="0"/>
              </a:rPr>
              <a:t>Tech Stack (Mandatory)</a:t>
            </a:r>
            <a:endParaRPr lang="en-IN" kern="100" dirty="0">
              <a:effectLst/>
              <a:latin typeface="Aptos"/>
              <a:ea typeface="Aptos"/>
              <a:cs typeface="Arial" panose="020B0604020202020204" pitchFamily="34"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kern="100" dirty="0">
                <a:effectLst/>
                <a:latin typeface="Times New Roman" panose="02020603050405020304" pitchFamily="18" charset="0"/>
                <a:ea typeface="Calibri" panose="020F0502020204030204" pitchFamily="34" charset="0"/>
                <a:cs typeface="Arial" panose="020B0604020202020204" pitchFamily="34" charset="0"/>
              </a:rPr>
              <a:t>IBM </a:t>
            </a:r>
            <a:r>
              <a:rPr lang="en-IN" kern="100" dirty="0" err="1">
                <a:effectLst/>
                <a:latin typeface="Times New Roman" panose="02020603050405020304" pitchFamily="18" charset="0"/>
                <a:ea typeface="Calibri" panose="020F0502020204030204" pitchFamily="34" charset="0"/>
                <a:cs typeface="Arial" panose="020B0604020202020204" pitchFamily="34" charset="0"/>
              </a:rPr>
              <a:t>Langflow</a:t>
            </a:r>
            <a:r>
              <a:rPr lang="en-IN" kern="100" dirty="0">
                <a:effectLst/>
                <a:latin typeface="Times New Roman" panose="02020603050405020304" pitchFamily="18" charset="0"/>
                <a:ea typeface="Calibri" panose="020F0502020204030204" pitchFamily="34" charset="0"/>
                <a:cs typeface="Arial" panose="020B0604020202020204" pitchFamily="34" charset="0"/>
              </a:rPr>
              <a:t> / IBM Orchestrate + IBM Models</a:t>
            </a:r>
            <a:endParaRPr lang="en-IN" kern="100" dirty="0">
              <a:effectLst/>
              <a:latin typeface="Aptos"/>
              <a:ea typeface="Aptos"/>
              <a:cs typeface="Arial" panose="020B0604020202020204" pitchFamily="34" charset="0"/>
            </a:endParaRPr>
          </a:p>
          <a:p>
            <a:endParaRPr lang="en-IN" sz="11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3" y="289751"/>
            <a:ext cx="10607039" cy="556434"/>
          </a:xfrm>
          <a:prstGeom prst="rect">
            <a:avLst/>
          </a:prstGeom>
          <a:noFill/>
        </p:spPr>
        <p:txBody>
          <a:bodyPr wrap="square" rtlCol="0">
            <a:spAutoFit/>
          </a:bodyPr>
          <a:lstStyle/>
          <a:p>
            <a:pPr>
              <a:lnSpc>
                <a:spcPct val="115000"/>
              </a:lnSpc>
              <a:spcAft>
                <a:spcPts val="800"/>
              </a:spcAft>
            </a:pPr>
            <a:r>
              <a:rPr lang="en-IN" sz="2800" b="1" kern="100" dirty="0">
                <a:effectLst/>
                <a:latin typeface="Times New Roman" panose="02020603050405020304" pitchFamily="18" charset="0"/>
                <a:ea typeface="Aptos"/>
                <a:cs typeface="Arial" panose="020B0604020202020204" pitchFamily="34" charset="0"/>
              </a:rPr>
              <a:t>Problem Statement No.13: Smart Study Generator Agent</a:t>
            </a:r>
            <a:endParaRPr lang="en-IN" sz="2800" kern="100" dirty="0">
              <a:effectLst/>
              <a:latin typeface="Aptos"/>
              <a:ea typeface="Aptos"/>
              <a:cs typeface="Arial" panose="020B0604020202020204" pitchFamily="34"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18910" y="922866"/>
            <a:ext cx="10607040" cy="5016758"/>
          </a:xfrm>
          <a:prstGeom prst="rect">
            <a:avLst/>
          </a:prstGeom>
          <a:noFill/>
        </p:spPr>
        <p:txBody>
          <a:bodyPr wrap="square" rtlCol="0">
            <a:spAutoFit/>
          </a:bodyPr>
          <a:lstStyle/>
          <a:p>
            <a:r>
              <a:rPr lang="en-US" sz="2000" b="1" dirty="0"/>
              <a:t>Proposed Solution: AI-Powered Smart Study Generator Agent</a:t>
            </a:r>
          </a:p>
          <a:p>
            <a:r>
              <a:rPr lang="en-US" sz="2000" dirty="0"/>
              <a:t>The proposed solution is an AI-powered Smart Study Generator Agent developed using </a:t>
            </a:r>
            <a:r>
              <a:rPr lang="en-US" sz="2000" b="1" dirty="0"/>
              <a:t>IBM BOB</a:t>
            </a:r>
            <a:r>
              <a:rPr lang="en-US" sz="2000" dirty="0"/>
              <a:t>, </a:t>
            </a:r>
            <a:r>
              <a:rPr lang="en-US" sz="2000" b="1" dirty="0"/>
              <a:t>IBM Granite AI</a:t>
            </a:r>
            <a:r>
              <a:rPr lang="en-US" sz="2000" dirty="0"/>
              <a:t>, and </a:t>
            </a:r>
            <a:r>
              <a:rPr lang="en-US" sz="2000" b="1" dirty="0"/>
              <a:t>IBM Cloud</a:t>
            </a:r>
            <a:r>
              <a:rPr lang="en-US" sz="2000" dirty="0"/>
              <a:t> concepts. The application helps students organize and understand their study materials through an intelligent and interactive learning platform.</a:t>
            </a:r>
          </a:p>
          <a:p>
            <a:r>
              <a:rPr lang="en-US" sz="2000" dirty="0"/>
              <a:t>Students can upload study materials such as PDF files, text documents, and images. The AI assistant provides concise summaries, answers questions, generates quizzes, creates flashcards, and recommends personalized study plans based on the uploaded content.</a:t>
            </a:r>
          </a:p>
          <a:p>
            <a:r>
              <a:rPr lang="en-US" sz="2000" dirty="0"/>
              <a:t>The application includes the following modules:</a:t>
            </a:r>
          </a:p>
          <a:p>
            <a:r>
              <a:rPr lang="en-US" sz="2000" dirty="0"/>
              <a:t>• </a:t>
            </a:r>
            <a:r>
              <a:rPr lang="en-US" sz="2000" b="1" dirty="0"/>
              <a:t>Study Material Upload Module</a:t>
            </a:r>
            <a:r>
              <a:rPr lang="en-US" sz="2000" dirty="0"/>
              <a:t> for uploading notes and documents.</a:t>
            </a:r>
          </a:p>
          <a:p>
            <a:r>
              <a:rPr lang="en-US" sz="2000" dirty="0"/>
              <a:t>• </a:t>
            </a:r>
            <a:r>
              <a:rPr lang="en-US" sz="2000" b="1" dirty="0"/>
              <a:t>AI Chat Assistant</a:t>
            </a:r>
            <a:r>
              <a:rPr lang="en-US" sz="2000" dirty="0"/>
              <a:t> for answering study-related questions.</a:t>
            </a:r>
          </a:p>
          <a:p>
            <a:r>
              <a:rPr lang="en-US" sz="2000" dirty="0"/>
              <a:t>• </a:t>
            </a:r>
            <a:r>
              <a:rPr lang="en-US" sz="2000" b="1" dirty="0"/>
              <a:t>Quiz Generator</a:t>
            </a:r>
            <a:r>
              <a:rPr lang="en-US" sz="2000" dirty="0"/>
              <a:t> for creating practice questions.</a:t>
            </a:r>
          </a:p>
          <a:p>
            <a:r>
              <a:rPr lang="en-US" sz="2000" dirty="0"/>
              <a:t>• </a:t>
            </a:r>
            <a:r>
              <a:rPr lang="en-US" sz="2000" b="1" dirty="0"/>
              <a:t>Flashcard Generator</a:t>
            </a:r>
            <a:r>
              <a:rPr lang="en-US" sz="2000" dirty="0"/>
              <a:t> for quick revision.</a:t>
            </a:r>
          </a:p>
          <a:p>
            <a:r>
              <a:rPr lang="en-US" sz="2000" dirty="0"/>
              <a:t>• </a:t>
            </a:r>
            <a:r>
              <a:rPr lang="en-US" sz="2000" b="1" dirty="0"/>
              <a:t>Study Planner</a:t>
            </a:r>
            <a:r>
              <a:rPr lang="en-US" sz="2000" dirty="0"/>
              <a:t> for preparing personalized schedules.</a:t>
            </a:r>
          </a:p>
          <a:p>
            <a:r>
              <a:rPr lang="en-US" sz="2000" dirty="0"/>
              <a:t>• </a:t>
            </a:r>
            <a:r>
              <a:rPr lang="en-US" sz="2000" b="1" dirty="0"/>
              <a:t>Dashboard</a:t>
            </a:r>
            <a:r>
              <a:rPr lang="en-US" sz="2000" dirty="0"/>
              <a:t> for displaying study progress and activity.</a:t>
            </a:r>
          </a:p>
          <a:p>
            <a:r>
              <a:rPr lang="en-US" sz="2000" dirty="0"/>
              <a:t>The solution provides a simple, responsive, and user-friendly interface that makes learning more organized, interactive, and efficient.</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61201"/>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785652"/>
          </a:xfrm>
          <a:prstGeom prst="rect">
            <a:avLst/>
          </a:prstGeom>
          <a:noFill/>
        </p:spPr>
        <p:txBody>
          <a:bodyPr wrap="square" lIns="91440" tIns="45720" rIns="91440" bIns="45720" rtlCol="0" anchor="t">
            <a:spAutoFit/>
          </a:bodyPr>
          <a:lstStyle/>
          <a:p>
            <a:r>
              <a:rPr lang="en-IN" sz="2400" b="1" dirty="0"/>
              <a:t>Technology Used</a:t>
            </a:r>
          </a:p>
          <a:p>
            <a:r>
              <a:rPr lang="en-IN" sz="2400" dirty="0"/>
              <a:t>• </a:t>
            </a:r>
            <a:r>
              <a:rPr lang="en-IN" sz="2400" b="1" dirty="0"/>
              <a:t>IBM BOB</a:t>
            </a:r>
            <a:r>
              <a:rPr lang="en-IN" sz="2400" dirty="0"/>
              <a:t> – Used to generate the project structure, web pages, UI components, and application code.</a:t>
            </a:r>
          </a:p>
          <a:p>
            <a:r>
              <a:rPr lang="en-IN" sz="2400" dirty="0"/>
              <a:t>• </a:t>
            </a:r>
            <a:r>
              <a:rPr lang="en-IN" sz="2400" b="1" dirty="0"/>
              <a:t>IBM Granite AI</a:t>
            </a:r>
            <a:r>
              <a:rPr lang="en-IN" sz="2400" dirty="0"/>
              <a:t> – Used as the AI model for answering questions, generating summaries, quizzes, and study recommendations.</a:t>
            </a:r>
          </a:p>
          <a:p>
            <a:r>
              <a:rPr lang="en-IN" sz="2400" dirty="0"/>
              <a:t>• </a:t>
            </a:r>
            <a:r>
              <a:rPr lang="en-IN" sz="2400" b="1" dirty="0"/>
              <a:t>IBM Cloud</a:t>
            </a:r>
            <a:r>
              <a:rPr lang="en-IN" sz="2400" dirty="0"/>
              <a:t> – Provides the cloud environment for AI development and deployment concepts.</a:t>
            </a:r>
          </a:p>
          <a:p>
            <a:r>
              <a:rPr lang="en-IN" sz="2400" dirty="0"/>
              <a:t>• </a:t>
            </a:r>
            <a:r>
              <a:rPr lang="en-IN" sz="2400" b="1" dirty="0"/>
              <a:t>HTML5</a:t>
            </a:r>
            <a:r>
              <a:rPr lang="en-IN" sz="2400" dirty="0"/>
              <a:t> – Website structure.</a:t>
            </a:r>
          </a:p>
          <a:p>
            <a:r>
              <a:rPr lang="en-IN" sz="2400" dirty="0"/>
              <a:t>• </a:t>
            </a:r>
            <a:r>
              <a:rPr lang="en-IN" sz="2400" b="1" dirty="0"/>
              <a:t>CSS3</a:t>
            </a:r>
            <a:r>
              <a:rPr lang="en-IN" sz="2400" dirty="0"/>
              <a:t> – Responsive and modern user interface.</a:t>
            </a:r>
          </a:p>
          <a:p>
            <a:r>
              <a:rPr lang="en-IN" sz="2400" dirty="0"/>
              <a:t>• </a:t>
            </a:r>
            <a:r>
              <a:rPr lang="en-IN" sz="2400" b="1" dirty="0"/>
              <a:t>JavaScript</a:t>
            </a:r>
            <a:r>
              <a:rPr lang="en-IN" sz="2400" dirty="0"/>
              <a:t> – Interactive functionality and user experience.</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IN" sz="3200" dirty="0"/>
              <a:t>IBM BOB Components Used</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09833"/>
          </a:xfrm>
          <a:prstGeom prst="rect">
            <a:avLst/>
          </a:prstGeom>
          <a:noFill/>
        </p:spPr>
        <p:txBody>
          <a:bodyPr wrap="square" rtlCol="0">
            <a:spAutoFit/>
          </a:bodyPr>
          <a:lstStyle/>
          <a:p>
            <a:pPr>
              <a:lnSpc>
                <a:spcPct val="150000"/>
              </a:lnSpc>
            </a:pPr>
            <a:r>
              <a:rPr lang="en-IN" sz="2400" b="1" dirty="0"/>
              <a:t>IBM BOB Components Used</a:t>
            </a:r>
          </a:p>
          <a:p>
            <a:pPr>
              <a:lnSpc>
                <a:spcPct val="150000"/>
              </a:lnSpc>
            </a:pPr>
            <a:r>
              <a:rPr lang="en-IN" sz="2400" dirty="0"/>
              <a:t>Content:</a:t>
            </a:r>
          </a:p>
          <a:p>
            <a:pPr>
              <a:lnSpc>
                <a:spcPct val="150000"/>
              </a:lnSpc>
              <a:buFont typeface="+mj-lt"/>
              <a:buAutoNum type="arabicPeriod"/>
            </a:pPr>
            <a:r>
              <a:rPr lang="en-IN" sz="2400" dirty="0"/>
              <a:t>Chat Interface for AI-based interaction. </a:t>
            </a:r>
          </a:p>
          <a:p>
            <a:pPr>
              <a:lnSpc>
                <a:spcPct val="150000"/>
              </a:lnSpc>
              <a:buFont typeface="+mj-lt"/>
              <a:buAutoNum type="arabicPeriod"/>
            </a:pPr>
            <a:r>
              <a:rPr lang="en-IN" sz="2400" dirty="0"/>
              <a:t>File Upload Component for uploading study materials. </a:t>
            </a:r>
          </a:p>
          <a:p>
            <a:pPr>
              <a:lnSpc>
                <a:spcPct val="150000"/>
              </a:lnSpc>
              <a:buFont typeface="+mj-lt"/>
              <a:buAutoNum type="arabicPeriod"/>
            </a:pPr>
            <a:r>
              <a:rPr lang="en-IN" sz="2400" dirty="0"/>
              <a:t>IBM Granite AI integration concept for generating responses. </a:t>
            </a:r>
          </a:p>
          <a:p>
            <a:pPr>
              <a:lnSpc>
                <a:spcPct val="150000"/>
              </a:lnSpc>
              <a:buFont typeface="+mj-lt"/>
              <a:buAutoNum type="arabicPeriod"/>
            </a:pPr>
            <a:r>
              <a:rPr lang="en-IN" sz="2400" dirty="0"/>
              <a:t>Quiz Generation Module. </a:t>
            </a:r>
          </a:p>
          <a:p>
            <a:pPr>
              <a:lnSpc>
                <a:spcPct val="150000"/>
              </a:lnSpc>
              <a:buFont typeface="+mj-lt"/>
              <a:buAutoNum type="arabicPeriod"/>
            </a:pPr>
            <a:r>
              <a:rPr lang="en-IN" sz="2400" dirty="0"/>
              <a:t>Study Planner Module. </a:t>
            </a:r>
          </a:p>
          <a:p>
            <a:pPr>
              <a:lnSpc>
                <a:spcPct val="150000"/>
              </a:lnSpc>
              <a:buFont typeface="+mj-lt"/>
              <a:buAutoNum type="arabicPeriod"/>
            </a:pPr>
            <a:r>
              <a:rPr lang="en-IN" sz="2400" dirty="0"/>
              <a:t>Dashboard Module for displaying study progress. </a:t>
            </a:r>
          </a:p>
          <a:p>
            <a:pPr>
              <a:lnSpc>
                <a:spcPct val="150000"/>
              </a:lnSpc>
              <a:buFont typeface="+mj-lt"/>
              <a:buAutoNum type="arabicPeriod"/>
            </a:pPr>
            <a:r>
              <a:rPr lang="en-IN" sz="2400" dirty="0"/>
              <a:t>Navigation System connecting all pages.</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2"/>
            <a:ext cx="3343765" cy="4847545"/>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113644"/>
          </a:xfrm>
          <a:prstGeom prst="rect">
            <a:avLst/>
          </a:prstGeom>
          <a:noFill/>
        </p:spPr>
        <p:txBody>
          <a:bodyPr wrap="square" rtlCol="0">
            <a:spAutoFit/>
          </a:bodyPr>
          <a:lstStyle/>
          <a:p>
            <a:pPr>
              <a:lnSpc>
                <a:spcPct val="150000"/>
              </a:lnSpc>
            </a:pPr>
            <a:r>
              <a:rPr lang="en-US" sz="2000" b="1" dirty="0"/>
              <a:t>Role of Agentic AI in Smart Study Generator</a:t>
            </a:r>
          </a:p>
          <a:p>
            <a:pPr>
              <a:lnSpc>
                <a:spcPct val="150000"/>
              </a:lnSpc>
            </a:pPr>
            <a:r>
              <a:rPr lang="en-US" sz="2000" dirty="0"/>
              <a:t>Agentic AI enables the Smart Study Generator to act as an intelligent learning assistant instead of a traditional study application. It understands user requests, analyzes uploaded study materials, and performs multiple educational tasks such as summarization, quiz generation, flashcard creation, and personalized study planning.</a:t>
            </a:r>
          </a:p>
          <a:p>
            <a:pPr>
              <a:lnSpc>
                <a:spcPct val="150000"/>
              </a:lnSpc>
            </a:pPr>
            <a:r>
              <a:rPr lang="en-US" sz="2000" dirty="0"/>
              <a:t>The AI adapts its responses according to student needs, making learning more interactive, efficient, and personalized. This improves productivity and helps students prepare more effectively for examinations.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1685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4" name="Picture 3">
            <a:extLst>
              <a:ext uri="{FF2B5EF4-FFF2-40B4-BE49-F238E27FC236}">
                <a16:creationId xmlns:a16="http://schemas.microsoft.com/office/drawing/2014/main" id="{2696A068-8A1F-476D-924B-C7FAC879DF9B}"/>
              </a:ext>
            </a:extLst>
          </p:cNvPr>
          <p:cNvPicPr>
            <a:picLocks noChangeAspect="1"/>
          </p:cNvPicPr>
          <p:nvPr/>
        </p:nvPicPr>
        <p:blipFill>
          <a:blip r:embed="rId3"/>
          <a:stretch>
            <a:fillRect/>
          </a:stretch>
        </p:blipFill>
        <p:spPr>
          <a:xfrm>
            <a:off x="447960" y="2486333"/>
            <a:ext cx="5258520" cy="3327403"/>
          </a:xfrm>
          <a:prstGeom prst="rect">
            <a:avLst/>
          </a:prstGeom>
        </p:spPr>
      </p:pic>
      <p:pic>
        <p:nvPicPr>
          <p:cNvPr id="7" name="Picture 6">
            <a:extLst>
              <a:ext uri="{FF2B5EF4-FFF2-40B4-BE49-F238E27FC236}">
                <a16:creationId xmlns:a16="http://schemas.microsoft.com/office/drawing/2014/main" id="{20AB41EB-1B0E-4FCD-A3E1-33DEFEDD614F}"/>
              </a:ext>
            </a:extLst>
          </p:cNvPr>
          <p:cNvPicPr>
            <a:picLocks noChangeAspect="1"/>
          </p:cNvPicPr>
          <p:nvPr/>
        </p:nvPicPr>
        <p:blipFill>
          <a:blip r:embed="rId4"/>
          <a:stretch>
            <a:fillRect/>
          </a:stretch>
        </p:blipFill>
        <p:spPr>
          <a:xfrm>
            <a:off x="6224754" y="2486334"/>
            <a:ext cx="5610057" cy="332740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671005"/>
          </a:xfrm>
          <a:prstGeom prst="rect">
            <a:avLst/>
          </a:prstGeom>
          <a:noFill/>
        </p:spPr>
        <p:txBody>
          <a:bodyPr wrap="square" rtlCol="0">
            <a:spAutoFit/>
          </a:bodyPr>
          <a:lstStyle/>
          <a:p>
            <a:r>
              <a:rPr lang="en-IN" sz="2400" b="1" dirty="0"/>
              <a:t>Novelty and Uniqueness</a:t>
            </a:r>
          </a:p>
          <a:p>
            <a:r>
              <a:rPr lang="en-IN" sz="2400" dirty="0"/>
              <a:t>• AI-powered study assistant.</a:t>
            </a:r>
          </a:p>
          <a:p>
            <a:r>
              <a:rPr lang="en-IN" sz="2400" dirty="0"/>
              <a:t>• Upload and </a:t>
            </a:r>
            <a:r>
              <a:rPr lang="en-IN" sz="2400" dirty="0" err="1"/>
              <a:t>analyze</a:t>
            </a:r>
            <a:r>
              <a:rPr lang="en-IN" sz="2400" dirty="0"/>
              <a:t> study materials.</a:t>
            </a:r>
          </a:p>
          <a:p>
            <a:r>
              <a:rPr lang="en-IN" sz="2400" dirty="0"/>
              <a:t>• Automatic quiz generation.</a:t>
            </a:r>
          </a:p>
          <a:p>
            <a:r>
              <a:rPr lang="en-IN" sz="2400" dirty="0"/>
              <a:t>• Personalized study planning.</a:t>
            </a:r>
          </a:p>
          <a:p>
            <a:r>
              <a:rPr lang="en-IN" sz="2400" dirty="0"/>
              <a:t>• Flashcard generation.</a:t>
            </a:r>
          </a:p>
          <a:p>
            <a:r>
              <a:rPr lang="en-IN" sz="2400" dirty="0"/>
              <a:t>• Interactive AI chatbot.</a:t>
            </a:r>
          </a:p>
          <a:p>
            <a:r>
              <a:rPr lang="en-IN" sz="2400" dirty="0"/>
              <a:t>• Simple and user-friendly interface.</a:t>
            </a:r>
          </a:p>
          <a:p>
            <a:pPr>
              <a:lnSpc>
                <a:spcPct val="200000"/>
              </a:lnSpc>
            </a:pPr>
            <a:r>
              <a:rPr lang="en-IN" sz="2400" dirty="0"/>
              <a:t>• Built using IBM BOB and IBM Granite AI concepts.</a:t>
            </a:r>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2400" b="0" i="0" u="none" strike="noStrike" cap="none" dirty="0">
                <a:solidFill>
                  <a:srgbClr val="000000"/>
                </a:solidFill>
                <a:latin typeface="+mj-lt"/>
                <a:ea typeface="Times New Roman"/>
                <a:cs typeface="Times New Roman"/>
                <a:sym typeface="Times New Roman"/>
              </a:rPr>
              <a:t>https://github.com/KrishnaRohit12/Smart-Study-Generator-Agent</a:t>
            </a:r>
            <a:endParaRPr sz="2400" b="0" i="0" u="none" strike="noStrike" cap="none" dirty="0">
              <a:solidFill>
                <a:srgbClr val="000000"/>
              </a:solidFill>
              <a:latin typeface="+mj-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nSpc>
                <a:spcPct val="150000"/>
              </a:lnSpc>
            </a:pPr>
            <a:r>
              <a:rPr lang="en-IN" sz="2800" b="1" dirty="0"/>
              <a:t> </a:t>
            </a:r>
            <a:r>
              <a:rPr lang="en-IN" sz="2800" b="1" dirty="0" err="1"/>
              <a:t>I</a:t>
            </a:r>
            <a:r>
              <a:rPr lang="en-IN" sz="2800" dirty="0" err="1"/>
              <a:t>tegration</a:t>
            </a:r>
            <a:r>
              <a:rPr lang="en-IN" sz="2800" dirty="0"/>
              <a:t> with IBM </a:t>
            </a:r>
            <a:r>
              <a:rPr lang="en-IN" sz="2800" dirty="0" err="1"/>
              <a:t>Watsonx</a:t>
            </a:r>
            <a:r>
              <a:rPr lang="en-IN" sz="2800" dirty="0"/>
              <a:t> services.</a:t>
            </a:r>
          </a:p>
          <a:p>
            <a:r>
              <a:rPr lang="en-IN" sz="2800" dirty="0"/>
              <a:t>• Voice-based AI study assistant.</a:t>
            </a:r>
          </a:p>
          <a:p>
            <a:r>
              <a:rPr lang="en-IN" sz="2800" dirty="0"/>
              <a:t>• OCR support for handwritten notes.</a:t>
            </a:r>
          </a:p>
          <a:p>
            <a:r>
              <a:rPr lang="en-IN" sz="2800" dirty="0"/>
              <a:t>• Real-time collaboration between students.</a:t>
            </a:r>
          </a:p>
          <a:p>
            <a:r>
              <a:rPr lang="en-IN" sz="2800" dirty="0"/>
              <a:t>• Multi-language support.</a:t>
            </a:r>
          </a:p>
          <a:p>
            <a:r>
              <a:rPr lang="en-IN" sz="2800" dirty="0"/>
              <a:t>• Mobile application development.</a:t>
            </a:r>
          </a:p>
          <a:p>
            <a:r>
              <a:rPr lang="en-IN" sz="2800" dirty="0"/>
              <a:t>• Cloud-based user accounts.</a:t>
            </a:r>
          </a:p>
          <a:p>
            <a:r>
              <a:rPr lang="en-IN" sz="2800" dirty="0"/>
              <a:t>• Performance analytics using AI.</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5" name="Picture 4">
            <a:extLst>
              <a:ext uri="{FF2B5EF4-FFF2-40B4-BE49-F238E27FC236}">
                <a16:creationId xmlns:a16="http://schemas.microsoft.com/office/drawing/2014/main" id="{DCAB3E2C-418A-4531-AB66-8E1296AC7DB0}"/>
              </a:ext>
            </a:extLst>
          </p:cNvPr>
          <p:cNvPicPr>
            <a:picLocks noChangeAspect="1"/>
          </p:cNvPicPr>
          <p:nvPr/>
        </p:nvPicPr>
        <p:blipFill>
          <a:blip r:embed="rId2"/>
          <a:stretch>
            <a:fillRect/>
          </a:stretch>
        </p:blipFill>
        <p:spPr>
          <a:xfrm>
            <a:off x="2571316" y="1519090"/>
            <a:ext cx="6801284" cy="508273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8" name="Picture 7">
            <a:extLst>
              <a:ext uri="{FF2B5EF4-FFF2-40B4-BE49-F238E27FC236}">
                <a16:creationId xmlns:a16="http://schemas.microsoft.com/office/drawing/2014/main" id="{72B5D991-9D67-4322-A0F1-AFF217AF0F64}"/>
              </a:ext>
            </a:extLst>
          </p:cNvPr>
          <p:cNvPicPr>
            <a:picLocks noChangeAspect="1"/>
          </p:cNvPicPr>
          <p:nvPr/>
        </p:nvPicPr>
        <p:blipFill>
          <a:blip r:embed="rId2"/>
          <a:stretch>
            <a:fillRect/>
          </a:stretch>
        </p:blipFill>
        <p:spPr>
          <a:xfrm>
            <a:off x="1918757" y="1477578"/>
            <a:ext cx="8296805" cy="512817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910</Words>
  <Application>Microsoft Office PowerPoint</Application>
  <PresentationFormat>Widescreen</PresentationFormat>
  <Paragraphs>98</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Symbol</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Administrator</cp:lastModifiedBy>
  <cp:revision>16</cp:revision>
  <dcterms:created xsi:type="dcterms:W3CDTF">2025-07-08T05:06:56Z</dcterms:created>
  <dcterms:modified xsi:type="dcterms:W3CDTF">2026-07-11T06:43:08Z</dcterms:modified>
</cp:coreProperties>
</file>